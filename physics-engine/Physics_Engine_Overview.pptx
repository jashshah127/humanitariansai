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phases shipped and on GitHub. The deck covers what it is, how it's built, how it's used, and an honest commercial read. The one-sentence version: an LLM that's good at physics is a commodity; one that reliably tells you when to trust it isn't.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thesis. The asymmetry in the italic line is the commercial argument: upside with no downside.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4 is highlighted because it's the load-bearing decision. Everything else is scaffolding around 'the model never does the math'.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the review feedback from Phase 1. The italic line is the reasoning, not a restatement — worth saying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badge and the traceability line are the differentiators. Every value maps back to the phrase in the student's own text it came from, so a misread is diagnosable rather than mysterious.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this if asked 'is it real'. A system that catches its own design flaws is qualitatively different from one that passes tests someone wrote for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Sri asked for automated assessment. The honest answer is that the benchmark measures something adjacent to what we currently do, and that discovery is what identified the next engineering priority.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'not a Mathematica replacement' part plainly. If that framing becomes internal, every future update reads as a shortfall against a target that was never reachable. The honest framing has a good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Volunteering the gaps is the right move here, not a defensive one — a status report that overclaimed would undercut the exact property we're selling.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ask. Two of the four open items share one trivial blocker — name it specifically rather than leaving it implied.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MEDHAVY  ·  HUMANITARIANS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Physics Problem-Solving Engine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solver that computes symbolically — and tells you when not to trust it.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+ Phase 1 complete   ·   Jash Shah, Product Lead   ·  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failure mode this exists to close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general-purpose LLM is the wrong tool for physics arithmetic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3291840"/>
          </a:xfrm>
          <a:prstGeom prst="roundRect">
            <a:avLst>
              <a:gd name="adj" fmla="val 2222"/>
            </a:avLst>
          </a:prstGeom>
          <a:solidFill>
            <a:srgbClr val="FBEEEE"/>
          </a:solidFill>
          <a:ln w="9525">
            <a:solidFill>
              <a:srgbClr val="DDE5EA"/>
            </a:solidFill>
            <a:prstDash val="solid"/>
          </a:ln>
          <a:effectLst>
            <a:outerShdw sx="100000" sy="100000" kx="0" ky="0" algn="bl" rotWithShape="0" blurRad="76200" dist="12700" dir="5400000">
              <a:srgbClr val="94A5B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2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a solver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does arithmetic the same way it writes prose — by predicting the next token.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it can be wrong while sounding exactly as confident as when it's right.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has no signal for which answers to distrust.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691640"/>
            <a:ext cx="5212080" cy="3291840"/>
          </a:xfrm>
          <a:prstGeom prst="roundRect">
            <a:avLst>
              <a:gd name="adj" fmla="val 2222"/>
            </a:avLst>
          </a:prstGeom>
          <a:solidFill>
            <a:srgbClr val="EAF3F0"/>
          </a:solidFill>
          <a:ln w="9525">
            <a:solidFill>
              <a:srgbClr val="DDE5EA"/>
            </a:solidFill>
            <a:prstDash val="solid"/>
          </a:ln>
          <a:effectLst>
            <a:outerShdw sx="100000" sy="100000" kx="0" ky="0" algn="bl" rotWithShape="0" blurRad="76200" dist="12700" dir="5400000">
              <a:srgbClr val="94A5B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294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7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this engine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29400" y="237744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SymPy performs every calculation. The LLM only reads the problem.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arrives labelled: verified, needs review, or unverified.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is visible to the student — that is the product.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257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floor never drops below a normal chatbot answer — the unverified path IS a normal chatbot answer, labelled. There is no input where turning this on makes a student worse off.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it's built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pipeline. The LLM never computes.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7589520" cy="786384"/>
          </a:xfrm>
          <a:prstGeom prst="roundRect">
            <a:avLst>
              <a:gd name="adj" fmla="val 9302"/>
            </a:avLst>
          </a:prstGeom>
          <a:solidFill>
            <a:srgbClr val="F4F7F9"/>
          </a:solidFill>
          <a:ln w="9525">
            <a:solidFill>
              <a:srgbClr val="DDE5EA"/>
            </a:solidFill>
            <a:prstDash val="solid"/>
          </a:ln>
          <a:effectLst>
            <a:outerShdw sx="100000" sy="100000" kx="0" ky="0" algn="bl" rotWithShape="0" blurRad="76200" dist="12700" dir="5400000">
              <a:srgbClr val="94A5B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01368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7007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171907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reads the problem into knowns and unknowns. Reading comprehension only.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14600"/>
            <a:ext cx="7589520" cy="786384"/>
          </a:xfrm>
          <a:prstGeom prst="roundRect">
            <a:avLst>
              <a:gd name="adj" fmla="val 9302"/>
            </a:avLst>
          </a:prstGeom>
          <a:solidFill>
            <a:srgbClr val="F4F7F9"/>
          </a:solidFill>
          <a:ln w="9525">
            <a:solidFill>
              <a:srgbClr val="DDE5EA"/>
            </a:solidFill>
            <a:prstDash val="solid"/>
          </a:ln>
          <a:effectLst>
            <a:outerShdw sx="100000" sy="100000" kx="0" ky="0" algn="bl" rotWithShape="0" blurRad="76200" dist="12700" dir="5400000">
              <a:srgbClr val="94A5B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715768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6151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34640" y="263347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candidate formulas from a curated library of cards.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429000"/>
            <a:ext cx="7589520" cy="786384"/>
          </a:xfrm>
          <a:prstGeom prst="roundRect">
            <a:avLst>
              <a:gd name="adj" fmla="val 9302"/>
            </a:avLst>
          </a:prstGeom>
          <a:solidFill>
            <a:srgbClr val="F4F7F9"/>
          </a:solidFill>
          <a:ln w="9525">
            <a:solidFill>
              <a:srgbClr val="DDE5EA"/>
            </a:solidFill>
            <a:prstDash val="solid"/>
          </a:ln>
          <a:effectLst>
            <a:outerShdw sx="100000" sy="100000" kx="0" ky="0" algn="bl" rotWithShape="0" blurRad="76200" dist="12700" dir="5400000">
              <a:srgbClr val="94A5B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630168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35295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834640" y="354787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each formula's conditions; confirms the problem is solvable at all.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343400"/>
            <a:ext cx="7589520" cy="786384"/>
          </a:xfrm>
          <a:prstGeom prst="roundRect">
            <a:avLst>
              <a:gd name="adj" fmla="val 9302"/>
            </a:avLst>
          </a:prstGeom>
          <a:solidFill>
            <a:srgbClr val="E3F0E8"/>
          </a:solidFill>
          <a:ln w="9525">
            <a:solidFill>
              <a:srgbClr val="DDE5EA"/>
            </a:solidFill>
            <a:prstDash val="solid"/>
          </a:ln>
          <a:effectLst>
            <a:outerShdw sx="100000" sy="100000" kx="0" ky="0" algn="bl" rotWithShape="0" blurRad="76200" dist="12700" dir="5400000">
              <a:srgbClr val="94A5B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544568"/>
            <a:ext cx="384048" cy="384048"/>
          </a:xfrm>
          <a:prstGeom prst="ellipse">
            <a:avLst/>
          </a:prstGeom>
          <a:solidFill>
            <a:srgbClr val="1E7A34"/>
          </a:solidFill>
          <a:ln w="12700">
            <a:solidFill>
              <a:srgbClr val="1E7A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544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44439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7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834640" y="446227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SymPy and SciPy only. No language-model arithmetic, ever.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257800"/>
            <a:ext cx="7589520" cy="786384"/>
          </a:xfrm>
          <a:prstGeom prst="roundRect">
            <a:avLst>
              <a:gd name="adj" fmla="val 9302"/>
            </a:avLst>
          </a:prstGeom>
          <a:solidFill>
            <a:srgbClr val="F4F7F9"/>
          </a:solidFill>
          <a:ln w="9525">
            <a:solidFill>
              <a:srgbClr val="DDE5EA"/>
            </a:solidFill>
            <a:prstDash val="solid"/>
          </a:ln>
          <a:effectLst>
            <a:outerShdw sx="100000" sy="100000" kx="0" ky="0" algn="bl" rotWithShape="0" blurRad="76200" dist="12700" dir="5400000">
              <a:srgbClr val="94A5B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5458968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458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17320" y="53583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834640" y="537667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Units, limiting cases, and where possible an independent second derivation.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595360" y="1600200"/>
            <a:ext cx="2926080" cy="3886200"/>
          </a:xfrm>
          <a:prstGeom prst="roundRect">
            <a:avLst>
              <a:gd name="adj" fmla="val 2500"/>
            </a:avLst>
          </a:prstGeom>
          <a:solidFill>
            <a:srgbClr val="21295C"/>
          </a:solidFill>
          <a:ln w="9525">
            <a:solidFill>
              <a:srgbClr val="DDE5EA"/>
            </a:solidFill>
            <a:prstDash val="solid"/>
          </a:ln>
          <a:effectLst>
            <a:outerShdw sx="100000" sy="100000" kx="0" ky="0" algn="bl" rotWithShape="0" blurRad="76200" dist="12700" dir="5400000">
              <a:srgbClr val="94A5B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82396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B8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rule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823960" y="228600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handles language.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solver handles mathematics.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does the other's job.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single split is what removes silent arithmetic error as a category.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routing decision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returns one of exactly three outcomes — decided before solving, not after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611880" cy="3200400"/>
          </a:xfrm>
          <a:prstGeom prst="roundRect">
            <a:avLst>
              <a:gd name="adj" fmla="val 2286"/>
            </a:avLst>
          </a:prstGeom>
          <a:solidFill>
            <a:srgbClr val="E3F0E8"/>
          </a:solidFill>
          <a:ln w="9525">
            <a:solidFill>
              <a:srgbClr val="DDE5EA"/>
            </a:solidFill>
            <a:prstDash val="solid"/>
          </a:ln>
          <a:effectLst>
            <a:outerShdw sx="100000" sy="100000" kx="0" ky="0" algn="bl" rotWithShape="0" blurRad="76200" dist="12700" dir="5400000">
              <a:srgbClr val="94A5B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1E7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formula fits.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is final and reproducible. Same input, same output, always.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1737360"/>
            <a:ext cx="3611880" cy="3200400"/>
          </a:xfrm>
          <a:prstGeom prst="roundRect">
            <a:avLst>
              <a:gd name="adj" fmla="val 2286"/>
            </a:avLst>
          </a:prstGeom>
          <a:solidFill>
            <a:srgbClr val="FAF1E2"/>
          </a:solidFill>
          <a:ln w="9525">
            <a:solidFill>
              <a:srgbClr val="DDE5EA"/>
            </a:solidFill>
            <a:prstDash val="solid"/>
          </a:ln>
          <a:effectLst>
            <a:outerShdw sx="100000" sy="100000" kx="0" ky="0" algn="bl" rotWithShape="0" blurRad="76200" dist="12700" dir="5400000">
              <a:srgbClr val="94A5B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B2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 REVIEW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709160" y="2423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formulas fit and disagree.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297180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returned, with the condition each assumes. Nothing silently chosen.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1737360"/>
            <a:ext cx="3611880" cy="3200400"/>
          </a:xfrm>
          <a:prstGeom prst="roundRect">
            <a:avLst>
              <a:gd name="adj" fmla="val 2286"/>
            </a:avLst>
          </a:prstGeom>
          <a:solidFill>
            <a:srgbClr val="FBEEEE"/>
          </a:solidFill>
          <a:ln w="9525">
            <a:solidFill>
              <a:srgbClr val="DDE5EA"/>
            </a:solidFill>
            <a:prstDash val="solid"/>
          </a:ln>
          <a:effectLst>
            <a:outerShdw sx="100000" sy="100000" kx="0" ky="0" algn="bl" rotWithShape="0" blurRad="76200" dist="12700" dir="5400000">
              <a:srgbClr val="94A5B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0392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A32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UNVERIFIED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503920" y="2423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the library covers it.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03920" y="297180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Handed back to the tutor's own model, labelled — and logged as a coverage gap.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257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check before solving rather than running it twice: SymPy has no randomness, so it can never disagree with itself. Instability can only come from formula selection or model sampling — so that is what gets checked, and it is far cheaper.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it's used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 attached to Medhavy's input — the way AI Mode attaches to Google's search bar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4F7F9"/>
          </a:solidFill>
          <a:ln w="9525">
            <a:solidFill>
              <a:srgbClr val="DDE5EA"/>
            </a:solidFill>
            <a:prstDash val="solid"/>
          </a:ln>
          <a:effectLst>
            <a:outerShdw sx="100000" sy="100000" kx="0" ky="0" algn="bl" rotWithShape="0" blurRad="76200" dist="12700" dir="5400000">
              <a:srgbClr val="94A5B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surfaces, one solution object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72491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verified answer with the formula used and its assumptions.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Tutor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77647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object, rendered as a progressive hint ladder. Withholds the answer on purpose.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4526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82803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a student's own work against the reference. Phase 2.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0" y="164592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0E1B2E"/>
          </a:solidFill>
          <a:ln w="9525">
            <a:solidFill>
              <a:srgbClr val="DDE5EA"/>
            </a:solidFill>
            <a:prstDash val="solid"/>
          </a:ln>
          <a:effectLst>
            <a:outerShdw sx="100000" sy="100000" kx="0" ky="0" algn="bl" rotWithShape="0" blurRad="76200" dist="12700" dir="5400000">
              <a:srgbClr val="94A5B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B8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student sees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675120" y="2331720"/>
            <a:ext cx="4572000" cy="502920"/>
          </a:xfrm>
          <a:prstGeom prst="roundRect">
            <a:avLst>
              <a:gd name="adj" fmla="val 18182"/>
            </a:avLst>
          </a:prstGeom>
          <a:solidFill>
            <a:srgbClr val="1B2E47"/>
          </a:solidFill>
          <a:ln w="9525">
            <a:solidFill>
              <a:srgbClr val="2E4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23957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9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 starts from rest and accelerates…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675120" y="3017520"/>
            <a:ext cx="2514600" cy="384048"/>
          </a:xfrm>
          <a:prstGeom prst="roundRect">
            <a:avLst>
              <a:gd name="adj" fmla="val 23810"/>
            </a:avLst>
          </a:prstGeom>
          <a:solidFill>
            <a:srgbClr val="1E7A34"/>
          </a:solidFill>
          <a:ln w="12700">
            <a:solidFill>
              <a:srgbClr val="1E7A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30175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— solved symbolically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720840" y="36118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30.0 m/s     s = 180 m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720840" y="416052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9C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constant-acceleration kinematics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9C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Assumes: straight line, constant acceleration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9C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“starts from rest” as v₀ = 0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actually verified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from a clean clone: python3 eval/ci_check.py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 w="9525">
            <a:solidFill>
              <a:srgbClr val="DDE5EA"/>
            </a:solidFill>
            <a:prstDash val="solid"/>
          </a:ln>
          <a:effectLst>
            <a:outerShdw sx="100000" sy="100000" kx="0" ky="0" algn="bl" rotWithShape="0" blurRad="76200" dist="12700" dir="5400000">
              <a:srgbClr val="94A5B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7452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7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16/16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golden-set problems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correctly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56432" y="169164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 w="9525">
            <a:solidFill>
              <a:srgbClr val="DDE5EA"/>
            </a:solidFill>
            <a:prstDash val="solid"/>
          </a:ln>
          <a:effectLst>
            <a:outerShdw sx="100000" sy="100000" kx="0" ky="0" algn="bl" rotWithShape="0" blurRad="76200" dist="12700" dir="5400000">
              <a:srgbClr val="94A5B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56432" y="187452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10×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639312" y="2697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output 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runs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69164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 w="9525">
            <a:solidFill>
              <a:srgbClr val="DDE5EA"/>
            </a:solidFill>
            <a:prstDash val="solid"/>
          </a:ln>
          <a:effectLst>
            <a:outerShdw sx="100000" sy="100000" kx="0" ky="0" algn="bl" rotWithShape="0" blurRad="76200" dist="12700" dir="5400000">
              <a:srgbClr val="94A5B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72784" y="187452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7/7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455664" y="2697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invariants passing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fresh clone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89136" y="169164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 w="9525">
            <a:solidFill>
              <a:srgbClr val="DDE5EA"/>
            </a:solidFill>
            <a:prstDash val="solid"/>
          </a:ln>
          <a:effectLst>
            <a:outerShdw sx="100000" sy="100000" kx="0" ky="0" algn="bl" rotWithShape="0" blurRad="76200" dist="12700" dir="5400000">
              <a:srgbClr val="94A5B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89136" y="187452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2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272016" y="2697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design flaw the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caught itself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10881360" cy="1920240"/>
          </a:xfrm>
          <a:prstGeom prst="roundRect">
            <a:avLst>
              <a:gd name="adj" fmla="val 3810"/>
            </a:avLst>
          </a:prstGeom>
          <a:solidFill>
            <a:srgbClr val="EAF3F0"/>
          </a:solidFill>
          <a:ln w="9525">
            <a:solidFill>
              <a:srgbClr val="DDE5EA"/>
            </a:solidFill>
            <a:prstDash val="solid"/>
          </a:ln>
          <a:effectLst>
            <a:outerShdw sx="100000" sy="100000" kx="0" ky="0" algn="bl" rotWithShape="0" blurRad="76200" dist="12700" dir="5400000">
              <a:srgbClr val="94A5B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3977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finding worth pausing 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434340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audit independently caught a real defect: the symbol T meant tension (newtons) on one formula card and period (seconds) on two others. Force versus time is a dimensional contradiction, so it cannot be a false alarm. Nobody told the system to look for it — the check found it. That is the engine doing to itself exactly what it is built to do for students.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assessment against a real benchmark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UGPhysics (ICML 2025) — 1,226 undergraduate problems in our scope, pulled and analysed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4F7F9"/>
          </a:solidFill>
          <a:ln w="9525">
            <a:solidFill>
              <a:srgbClr val="DDE5EA"/>
            </a:solidFill>
            <a:prstDash val="solid"/>
          </a:ln>
          <a:effectLst>
            <a:outerShdw sx="100000" sy="100000" kx="0" ky="0" algn="bl" rotWithShape="0" blurRad="76200" dist="12700" dir="5400000">
              <a:srgbClr val="94A5B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benchmark can measure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has symbolic ground truth — asks for a derivation, not a number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 typed numeric but no number readable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is scorable against the engine as it stands today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92240" y="1645920"/>
            <a:ext cx="5029200" cy="2286000"/>
          </a:xfrm>
          <a:prstGeom prst="roundRect">
            <a:avLst>
              <a:gd name="adj" fmla="val 3200"/>
            </a:avLst>
          </a:prstGeom>
          <a:solidFill>
            <a:srgbClr val="EAF3F0"/>
          </a:solidFill>
          <a:ln w="9525">
            <a:solidFill>
              <a:srgbClr val="DDE5EA"/>
            </a:solidFill>
            <a:prstDash val="solid"/>
          </a:ln>
          <a:effectLst>
            <a:outerShdw sx="100000" sy="100000" kx="0" ky="0" algn="bl" rotWithShape="0" blurRad="76200" dist="12700" dir="5400000">
              <a:srgbClr val="94A5B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66560" y="18288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change unlocks 4×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66560" y="228600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currently substitute numbers before SymPy sees the equations. Keeping them symbolic until the final step would return symbolic answers AND enable real unit propagation — two open items, one fix, roughly 4× the benchmark becomes scorable.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10881360" cy="1600200"/>
          </a:xfrm>
          <a:prstGeom prst="roundRect">
            <a:avLst>
              <a:gd name="adj" fmla="val 4571"/>
            </a:avLst>
          </a:prstGeom>
          <a:solidFill>
            <a:srgbClr val="21295C"/>
          </a:solidFill>
          <a:ln w="9525">
            <a:solidFill>
              <a:srgbClr val="DDE5EA"/>
            </a:solidFill>
            <a:prstDash val="solid"/>
          </a:ln>
          <a:effectLst>
            <a:outerShdw sx="100000" sy="100000" kx="0" ky="0" algn="bl" rotWithShape="0" blurRad="76200" dist="12700" dir="5400000">
              <a:srgbClr val="94A5B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4343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B8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running it over everything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47091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9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 barely depends on population size: ~1,100 stratified problems gives ±3% at 95% confidence whether drawn from 10,000 or 10 million. The solver runs at 11ms/problem — a million is 12 minutes on 16 cores. The cost is entirely in the reading stage: a million problems is roughly $5,400 in model calls, for no additional statistical power.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 read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the MATLAB / Mathematica question directly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BEEEE"/>
          </a:solidFill>
          <a:ln w="9525">
            <a:solidFill>
              <a:srgbClr val="DDE5EA"/>
            </a:solidFill>
            <a:prstDash val="solid"/>
          </a:ln>
          <a:effectLst>
            <a:outerShdw sx="100000" sy="100000" kx="0" ky="0" algn="bl" rotWithShape="0" blurRad="76200" dist="12700" dir="5400000">
              <a:srgbClr val="94A5B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2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Mathematica replacement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calculation runs through SymPy — which is itself the open-source alternative to Mathematica's symbolic engine. We are a verification layer on top of that, not a competitor to it. Different product category, and 16 formula patterns against decades of development.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64592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4F7F9"/>
          </a:solidFill>
          <a:ln w="9525">
            <a:solidFill>
              <a:srgbClr val="DDE5EA"/>
            </a:solidFill>
            <a:prstDash val="solid"/>
          </a:ln>
          <a:effectLst>
            <a:outerShdw sx="100000" sy="100000" kx="0" ky="0" algn="bl" rotWithShape="0" blurRad="76200" dist="12700" dir="5400000">
              <a:srgbClr val="94A5B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828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competitive set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22860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Wolfram Alpha, Photomath, Symbolab, Mathway. Note: $10/month is the established ceiling, and photo input plus step-by-step are already table stakes there — not differentiators available to us.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10881360" cy="1783080"/>
          </a:xfrm>
          <a:prstGeom prst="roundRect">
            <a:avLst>
              <a:gd name="adj" fmla="val 4103"/>
            </a:avLst>
          </a:prstGeom>
          <a:solidFill>
            <a:srgbClr val="EAF3F0"/>
          </a:solidFill>
          <a:ln w="9525">
            <a:solidFill>
              <a:srgbClr val="DDE5EA"/>
            </a:solidFill>
            <a:prstDash val="solid"/>
          </a:ln>
          <a:effectLst>
            <a:outerShdw sx="100000" sy="100000" kx="0" ky="0" algn="bl" rotWithShape="0" blurRad="76200" dist="12700" dir="5400000">
              <a:srgbClr val="94A5B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4160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defensible wedge actually 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452628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incumbents don't tell you when they're unreliable — the standard advice with all of them is to cross-check anything critical yourself. That advice exists because none of them signal which answers to distrust. Strongest path is institutional, not direct-to-student: a tool that says verified or not verified is something a department can put in front of a class. Second-strongest is licensing it as an API to the many EdTech firms whose AI tutor is confidently wrong and who can't tell when.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not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before being asked — the project's own thesis applied to its own status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758952"/>
          </a:xfrm>
          <a:prstGeom prst="roundRect">
            <a:avLst>
              <a:gd name="adj" fmla="val 9639"/>
            </a:avLst>
          </a:prstGeom>
          <a:solidFill>
            <a:srgbClr val="F4F7F9"/>
          </a:solidFill>
          <a:ln w="9525">
            <a:solidFill>
              <a:srgbClr val="DDE5EA"/>
            </a:solidFill>
            <a:prstDash val="solid"/>
          </a:ln>
          <a:effectLst>
            <a:outerShdw sx="100000" sy="100000" kx="0" ky="0" algn="bl" rotWithShape="0" blurRad="76200" dist="12700" dir="5400000">
              <a:srgbClr val="94A5B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282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 accuracy unmeasured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023360" y="174650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runs on a stand-in, not a real model. "5/5 from raw text" honestly means 5/5 given a correct parse.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692640" y="1837944"/>
            <a:ext cx="1600200" cy="365760"/>
          </a:xfrm>
          <a:prstGeom prst="roundRect">
            <a:avLst>
              <a:gd name="adj" fmla="val 25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0" y="183794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2514600"/>
            <a:ext cx="10881360" cy="758952"/>
          </a:xfrm>
          <a:prstGeom prst="roundRect">
            <a:avLst>
              <a:gd name="adj" fmla="val 9639"/>
            </a:avLst>
          </a:prstGeom>
          <a:solidFill>
            <a:srgbClr val="F4F7F9"/>
          </a:solidFill>
          <a:ln w="9525">
            <a:solidFill>
              <a:srgbClr val="DDE5EA"/>
            </a:solidFill>
            <a:prstDash val="solid"/>
          </a:ln>
          <a:effectLst>
            <a:outerShdw sx="100000" sy="100000" kx="0" ky="0" algn="bl" rotWithShape="0" blurRad="76200" dist="12700" dir="5400000">
              <a:srgbClr val="94A5B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5968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baseline number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023360" y="261518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"Better than a plain LLM" is an argument, not a measurement. Harness is written and waiting.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692640" y="2706624"/>
            <a:ext cx="1600200" cy="365760"/>
          </a:xfrm>
          <a:prstGeom prst="roundRect">
            <a:avLst>
              <a:gd name="adj" fmla="val 25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0" y="270662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10881360" cy="758952"/>
          </a:xfrm>
          <a:prstGeom prst="roundRect">
            <a:avLst>
              <a:gd name="adj" fmla="val 9639"/>
            </a:avLst>
          </a:prstGeom>
          <a:solidFill>
            <a:srgbClr val="F4F7F9"/>
          </a:solidFill>
          <a:ln w="9525">
            <a:solidFill>
              <a:srgbClr val="DDE5EA"/>
            </a:solidFill>
            <a:prstDash val="solid"/>
          </a:ln>
          <a:effectLst>
            <a:outerShdw sx="100000" sy="100000" kx="0" ky="0" algn="bl" rotWithShape="0" blurRad="76200" dist="12700" dir="5400000">
              <a:srgbClr val="94A5B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34655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is thin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023360" y="348386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formula cards. Vibrations &amp; Waves is the largest gap — 179 problems, zero cards, and the most scorable topic.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692640" y="3575304"/>
            <a:ext cx="1600200" cy="365760"/>
          </a:xfrm>
          <a:prstGeom prst="roundRect">
            <a:avLst>
              <a:gd name="adj" fmla="val 25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0" y="357530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SHM card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" y="4251960"/>
            <a:ext cx="10881360" cy="758952"/>
          </a:xfrm>
          <a:prstGeom prst="roundRect">
            <a:avLst>
              <a:gd name="adj" fmla="val 9639"/>
            </a:avLst>
          </a:prstGeom>
          <a:solidFill>
            <a:srgbClr val="F4F7F9"/>
          </a:solidFill>
          <a:ln w="9525">
            <a:solidFill>
              <a:srgbClr val="DDE5EA"/>
            </a:solidFill>
            <a:prstDash val="solid"/>
          </a:ln>
          <a:effectLst>
            <a:outerShdw sx="100000" sy="100000" kx="0" ky="0" algn="bl" rotWithShape="0" blurRad="76200" dist="12700" dir="5400000">
              <a:srgbClr val="94A5B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43342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deployed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023360" y="435254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and is tested; not wired into Medhavy. No student has used it.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692640" y="4443984"/>
            <a:ext cx="1600200" cy="365760"/>
          </a:xfrm>
          <a:prstGeom prst="roundRect">
            <a:avLst>
              <a:gd name="adj" fmla="val 25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0" y="444398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5120640"/>
            <a:ext cx="10881360" cy="758952"/>
          </a:xfrm>
          <a:prstGeom prst="roundRect">
            <a:avLst>
              <a:gd name="adj" fmla="val 9639"/>
            </a:avLst>
          </a:prstGeom>
          <a:solidFill>
            <a:srgbClr val="F4F7F9"/>
          </a:solidFill>
          <a:ln w="9525">
            <a:solidFill>
              <a:srgbClr val="DDE5EA"/>
            </a:solidFill>
            <a:prstDash val="solid"/>
          </a:ln>
          <a:effectLst>
            <a:outerShdw sx="100000" sy="100000" kx="0" ky="0" algn="bl" rotWithShape="0" blurRad="76200" dist="12700" dir="5400000">
              <a:srgbClr val="94A5B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" y="52029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governance open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023360" y="522122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FERPA / IRB question unanswered. No student-linked data should flow until it is.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692640" y="5312664"/>
            <a:ext cx="1600200" cy="365760"/>
          </a:xfrm>
          <a:prstGeom prst="roundRect">
            <a:avLst>
              <a:gd name="adj" fmla="val 25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92640" y="531266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needed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of these need an API key.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That's the whole unblock.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parse accuracy · run the baseline · build the SHM card · settle the data question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github.com/jashshah127/humanitariansai/tree/main/physics-engine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Physics Problem-Solving Engine</dc:title>
  <dc:subject>PptxGenJS Presentation</dc:subject>
  <dc:creator>Jash Shah</dc:creator>
  <cp:lastModifiedBy>Jash Shah</cp:lastModifiedBy>
  <cp:revision>1</cp:revision>
  <dcterms:created xsi:type="dcterms:W3CDTF">2026-08-13T15:14:21Z</dcterms:created>
  <dcterms:modified xsi:type="dcterms:W3CDTF">2026-08-13T15:14:21Z</dcterms:modified>
</cp:coreProperties>
</file>